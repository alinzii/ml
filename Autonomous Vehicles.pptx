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80" r:id="rId5"/>
    <p:sldId id="281" r:id="rId6"/>
    <p:sldId id="282" r:id="rId7"/>
    <p:sldId id="283" r:id="rId8"/>
    <p:sldId id="284" r:id="rId9"/>
    <p:sldId id="285" r:id="rId10"/>
    <p:sldId id="286" r:id="rId11"/>
    <p:sldId id="287" r:id="rId12"/>
    <p:sldId id="288" r:id="rId13"/>
    <p:sldId id="289" r:id="rId14"/>
    <p:sldId id="290" r:id="rId15"/>
    <p:sldId id="291" r:id="rId16"/>
    <p:sldId id="292" r:id="rId17"/>
    <p:sldId id="293" r:id="rId18"/>
    <p:sldId id="294" r:id="rId19"/>
    <p:sldId id="295" r:id="rId20"/>
    <p:sldId id="29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9" autoAdjust="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12/24/2025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2981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12/24/2025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6277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12/24/2025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4205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12/24/2025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5774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12/24/2025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03152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12/24/2025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43349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12/24/2025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1585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12/24/2025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8149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12/24/2025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25126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12/24/2025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9809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12/24/2025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1927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12/24/2025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520980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12/24/2025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63243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12/24/2025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97586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12/24/2025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545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12/24/2025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27440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large, sitting, white, numbers">
            <a:extLst>
              <a:ext uri="{FF2B5EF4-FFF2-40B4-BE49-F238E27FC236}">
                <a16:creationId xmlns:a16="http://schemas.microsoft.com/office/drawing/2014/main" id="{9A5D9ED1-DFCC-4799-89E2-D118451B98D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2" y="0"/>
            <a:ext cx="12191356" cy="6858000"/>
          </a:xfrm>
          <a:prstGeom prst="rect">
            <a:avLst/>
          </a:prstGeom>
        </p:spPr>
      </p:pic>
      <p:sp useBgFill="1">
        <p:nvSpPr>
          <p:cNvPr id="96" name="Freeform 5">
            <a:extLst>
              <a:ext uri="{FF2B5EF4-FFF2-40B4-BE49-F238E27FC236}">
                <a16:creationId xmlns:a16="http://schemas.microsoft.com/office/drawing/2014/main" id="{FE469E50-3893-4ED6-92BA-2985C32B0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5400000">
            <a:off x="7131809" y="1385982"/>
            <a:ext cx="4031414" cy="4100418"/>
          </a:xfrm>
          <a:custGeom>
            <a:avLst/>
            <a:gdLst>
              <a:gd name="T0" fmla="*/ 1577 w 1601"/>
              <a:gd name="T1" fmla="*/ 0 h 696"/>
              <a:gd name="T2" fmla="*/ 833 w 1601"/>
              <a:gd name="T3" fmla="*/ 0 h 696"/>
              <a:gd name="T4" fmla="*/ 768 w 1601"/>
              <a:gd name="T5" fmla="*/ 0 h 696"/>
              <a:gd name="T6" fmla="*/ 24 w 1601"/>
              <a:gd name="T7" fmla="*/ 0 h 696"/>
              <a:gd name="T8" fmla="*/ 0 w 1601"/>
              <a:gd name="T9" fmla="*/ 27 h 696"/>
              <a:gd name="T10" fmla="*/ 0 w 1601"/>
              <a:gd name="T11" fmla="*/ 669 h 696"/>
              <a:gd name="T12" fmla="*/ 24 w 1601"/>
              <a:gd name="T13" fmla="*/ 696 h 696"/>
              <a:gd name="T14" fmla="*/ 768 w 1601"/>
              <a:gd name="T15" fmla="*/ 696 h 696"/>
              <a:gd name="T16" fmla="*/ 833 w 1601"/>
              <a:gd name="T17" fmla="*/ 696 h 696"/>
              <a:gd name="T18" fmla="*/ 1577 w 1601"/>
              <a:gd name="T19" fmla="*/ 696 h 696"/>
              <a:gd name="T20" fmla="*/ 1601 w 1601"/>
              <a:gd name="T21" fmla="*/ 669 h 696"/>
              <a:gd name="T22" fmla="*/ 1601 w 1601"/>
              <a:gd name="T23" fmla="*/ 27 h 696"/>
              <a:gd name="T24" fmla="*/ 1577 w 1601"/>
              <a:gd name="T25" fmla="*/ 0 h 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601" h="696">
                <a:moveTo>
                  <a:pt x="1577" y="0"/>
                </a:moveTo>
                <a:cubicBezTo>
                  <a:pt x="833" y="0"/>
                  <a:pt x="833" y="0"/>
                  <a:pt x="833" y="0"/>
                </a:cubicBezTo>
                <a:cubicBezTo>
                  <a:pt x="768" y="0"/>
                  <a:pt x="768" y="0"/>
                  <a:pt x="768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2"/>
                  <a:pt x="0" y="27"/>
                </a:cubicBezTo>
                <a:cubicBezTo>
                  <a:pt x="0" y="669"/>
                  <a:pt x="0" y="669"/>
                  <a:pt x="0" y="669"/>
                </a:cubicBezTo>
                <a:cubicBezTo>
                  <a:pt x="0" y="684"/>
                  <a:pt x="11" y="696"/>
                  <a:pt x="24" y="696"/>
                </a:cubicBezTo>
                <a:cubicBezTo>
                  <a:pt x="768" y="696"/>
                  <a:pt x="768" y="696"/>
                  <a:pt x="768" y="696"/>
                </a:cubicBezTo>
                <a:cubicBezTo>
                  <a:pt x="833" y="696"/>
                  <a:pt x="833" y="696"/>
                  <a:pt x="833" y="696"/>
                </a:cubicBezTo>
                <a:cubicBezTo>
                  <a:pt x="1577" y="696"/>
                  <a:pt x="1577" y="696"/>
                  <a:pt x="1577" y="696"/>
                </a:cubicBezTo>
                <a:cubicBezTo>
                  <a:pt x="1590" y="696"/>
                  <a:pt x="1601" y="684"/>
                  <a:pt x="1601" y="669"/>
                </a:cubicBezTo>
                <a:cubicBezTo>
                  <a:pt x="1601" y="27"/>
                  <a:pt x="1601" y="27"/>
                  <a:pt x="1601" y="27"/>
                </a:cubicBezTo>
                <a:cubicBezTo>
                  <a:pt x="1601" y="12"/>
                  <a:pt x="1590" y="0"/>
                  <a:pt x="1577" y="0"/>
                </a:cubicBezTo>
                <a:close/>
              </a:path>
            </a:pathLst>
          </a:custGeom>
          <a:ln>
            <a:noFill/>
          </a:ln>
          <a:effectLst>
            <a:outerShdw blurRad="50800" dist="38100" dir="5400000" algn="tl" rotWithShape="0">
              <a:srgbClr val="000000">
                <a:alpha val="43000"/>
              </a:srgbClr>
            </a:outerShdw>
          </a:effectLst>
          <a:extLst>
            <a:ext uri="{91240B29-F687-4f45-9708-019B960494DF}">
              <a14:hiddenLine xmlns:a16="http://schemas.microsoft.com/office/drawing/2014/main" xmlns:p14="http://schemas.microsoft.com/office/powerpoint/2010/main"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89962" y="1673524"/>
            <a:ext cx="3485073" cy="2420504"/>
          </a:xfrm>
        </p:spPr>
        <p:txBody>
          <a:bodyPr>
            <a:normAutofit/>
          </a:bodyPr>
          <a:lstStyle/>
          <a:p>
            <a:pPr algn="l"/>
            <a:r>
              <a:rPr lang="en-US" sz="4000" dirty="0"/>
              <a:t>Autonomous Vehicles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89965" y="4157933"/>
            <a:ext cx="3485072" cy="1026544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solidFill>
                  <a:srgbClr val="5792BA"/>
                </a:solidFill>
              </a:rPr>
              <a:t>Scale 1:10</a:t>
            </a:r>
            <a:endParaRPr lang="en-US" sz="2300" dirty="0">
              <a:solidFill>
                <a:srgbClr val="5792B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31201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4C46B-BA9C-A920-CAF8-5A4E03B9D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معماری کل سیستم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FBBD5-10AD-D1CC-8059-1E437931D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dirty="0"/>
              <a:t>Perception Layer</a:t>
            </a:r>
          </a:p>
          <a:p>
            <a:pPr algn="l"/>
            <a:r>
              <a:rPr lang="en-US" dirty="0"/>
              <a:t>Decision Making Layer</a:t>
            </a:r>
          </a:p>
          <a:p>
            <a:pPr algn="l"/>
            <a:r>
              <a:rPr lang="en-US" dirty="0"/>
              <a:t>Control Layer </a:t>
            </a:r>
          </a:p>
          <a:p>
            <a:pPr algn="l"/>
            <a:r>
              <a:rPr lang="en-US" dirty="0"/>
              <a:t>Hardware Layer</a:t>
            </a:r>
          </a:p>
        </p:txBody>
      </p:sp>
    </p:spTree>
    <p:extLst>
      <p:ext uri="{BB962C8B-B14F-4D97-AF65-F5344CB8AC3E}">
        <p14:creationId xmlns:p14="http://schemas.microsoft.com/office/powerpoint/2010/main" val="22457182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0A52F-868B-0C57-0D88-90CAD3F79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سخت افزار پردازشی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3AAEA9-F2D3-E1AC-42D5-318FCA867E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Raspberry Pi 5</a:t>
            </a:r>
          </a:p>
          <a:p>
            <a:r>
              <a:rPr lang="en-US" dirty="0"/>
              <a:t>AI Hat 26 TOPS</a:t>
            </a:r>
            <a:endParaRPr lang="fa-IR" dirty="0"/>
          </a:p>
          <a:p>
            <a:endParaRPr lang="fa-IR" dirty="0"/>
          </a:p>
          <a:p>
            <a:endParaRPr lang="fa-IR" dirty="0"/>
          </a:p>
          <a:p>
            <a:endParaRPr lang="fa-IR" dirty="0"/>
          </a:p>
          <a:p>
            <a:endParaRPr lang="fa-IR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1533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83350-EB19-C66C-4C44-71837983C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dirty="0"/>
              <a:t>شبکه عصبی </a:t>
            </a:r>
            <a:r>
              <a:rPr lang="en-US" dirty="0"/>
              <a:t>YOLOv10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7C521E-A7C4-AA87-6390-0A482855DA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Object detection</a:t>
            </a:r>
          </a:p>
          <a:p>
            <a:r>
              <a:rPr lang="fa-IR" dirty="0"/>
              <a:t>حذف </a:t>
            </a:r>
            <a:r>
              <a:rPr lang="en-US" dirty="0"/>
              <a:t> NMS( Non Maximum </a:t>
            </a:r>
            <a:r>
              <a:rPr lang="en-US" dirty="0" err="1"/>
              <a:t>Superession</a:t>
            </a:r>
            <a:r>
              <a:rPr lang="en-US" dirty="0"/>
              <a:t>)</a:t>
            </a:r>
          </a:p>
          <a:p>
            <a:r>
              <a:rPr lang="en-US" dirty="0"/>
              <a:t>Latency </a:t>
            </a:r>
            <a:r>
              <a:rPr lang="fa-IR" dirty="0"/>
              <a:t>کمتر</a:t>
            </a:r>
          </a:p>
          <a:p>
            <a:r>
              <a:rPr lang="en-US" dirty="0"/>
              <a:t>Edge AI </a:t>
            </a:r>
            <a:r>
              <a:rPr lang="fa-IR" dirty="0"/>
              <a:t>مناسب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95658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503D5-AE52-EED7-F4CE-63500B2D8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dirty="0"/>
              <a:t>ساختار شبکه </a:t>
            </a:r>
            <a:r>
              <a:rPr lang="en-US" dirty="0"/>
              <a:t>YOLOv10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DD4562-F542-0EF3-FEA5-565A7E8DB8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r" rtl="1"/>
            <a:r>
              <a:rPr lang="en-US" dirty="0"/>
              <a:t>Backbone</a:t>
            </a:r>
            <a:r>
              <a:rPr lang="fa-IR" dirty="0"/>
              <a:t>: شامل لایه های </a:t>
            </a:r>
            <a:r>
              <a:rPr lang="en-US" dirty="0"/>
              <a:t>activation , convolution </a:t>
            </a:r>
            <a:r>
              <a:rPr lang="fa-IR" dirty="0"/>
              <a:t> هست که وظیفه اش استخراج ویژگی های سطح پایین و بالا از تصویر است. </a:t>
            </a:r>
            <a:endParaRPr lang="en-US" dirty="0"/>
          </a:p>
          <a:p>
            <a:pPr algn="r" rtl="1"/>
            <a:r>
              <a:rPr lang="en-US" dirty="0"/>
              <a:t>Neck</a:t>
            </a:r>
            <a:r>
              <a:rPr lang="fa-IR" dirty="0"/>
              <a:t>: اطلاعات استخراج شده در مقیاس های مختلف رو ترکیب می کنه. این بخش باعث میشه شبکه هم اشیا بزرگ و کوچک رو تشخیص بده.</a:t>
            </a:r>
            <a:endParaRPr lang="en-US" dirty="0"/>
          </a:p>
          <a:p>
            <a:pPr algn="r" rtl="1"/>
            <a:r>
              <a:rPr lang="en-US" dirty="0"/>
              <a:t>Head</a:t>
            </a:r>
            <a:r>
              <a:rPr lang="fa-IR" dirty="0"/>
              <a:t>: در نهایت خروجی شبکه رو تولید میکنه:</a:t>
            </a:r>
          </a:p>
          <a:p>
            <a:pPr algn="r" rtl="1">
              <a:buFont typeface="Wingdings" panose="05000000000000000000" pitchFamily="2" charset="2"/>
              <a:buChar char="§"/>
            </a:pPr>
            <a:r>
              <a:rPr lang="fa-IR" dirty="0"/>
              <a:t>	مکان </a:t>
            </a:r>
            <a:r>
              <a:rPr lang="en-US" dirty="0"/>
              <a:t>Bounding Box</a:t>
            </a:r>
          </a:p>
          <a:p>
            <a:pPr algn="r" rtl="1">
              <a:buFont typeface="Wingdings" panose="05000000000000000000" pitchFamily="2" charset="2"/>
              <a:buChar char="§"/>
            </a:pPr>
            <a:r>
              <a:rPr lang="fa-IR" dirty="0"/>
              <a:t>کلاس شئ</a:t>
            </a:r>
          </a:p>
          <a:p>
            <a:pPr algn="r" rtl="1">
              <a:buFont typeface="Wingdings" panose="05000000000000000000" pitchFamily="2" charset="2"/>
              <a:buChar char="§"/>
            </a:pPr>
            <a:r>
              <a:rPr lang="en-US" dirty="0"/>
              <a:t>Confidence Score</a:t>
            </a:r>
          </a:p>
          <a:p>
            <a:pPr marL="36900" indent="0" algn="r" rtl="1">
              <a:buNone/>
            </a:pPr>
            <a:r>
              <a:rPr lang="fa-IR" dirty="0"/>
              <a:t>در </a:t>
            </a:r>
            <a:r>
              <a:rPr lang="en-US" dirty="0"/>
              <a:t>YOLOv10 </a:t>
            </a:r>
            <a:r>
              <a:rPr lang="fa-IR" dirty="0"/>
              <a:t>این بخش جوری طراحی شده که نیاز به </a:t>
            </a:r>
            <a:r>
              <a:rPr lang="en-US" dirty="0"/>
              <a:t>NMS </a:t>
            </a:r>
            <a:r>
              <a:rPr lang="fa-IR" dirty="0"/>
              <a:t>جداگانه نباشه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8431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4B3C1-2B43-361B-EE8D-5ECCE9746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dirty="0"/>
              <a:t>وظایف </a:t>
            </a:r>
            <a:r>
              <a:rPr lang="en-US" dirty="0"/>
              <a:t>YOLOv10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0A1213-21FF-0F1F-C450-74819A3855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fa-IR" dirty="0"/>
              <a:t>عابر پیاده</a:t>
            </a:r>
          </a:p>
          <a:p>
            <a:pPr algn="r" rtl="1"/>
            <a:r>
              <a:rPr lang="fa-IR" dirty="0"/>
              <a:t>خط عابر پیاده</a:t>
            </a:r>
          </a:p>
          <a:p>
            <a:pPr algn="r" rtl="1"/>
            <a:r>
              <a:rPr lang="fa-IR" dirty="0"/>
              <a:t>علاِم ترافیکی</a:t>
            </a:r>
          </a:p>
          <a:p>
            <a:pPr algn="r" rtl="1"/>
            <a:r>
              <a:rPr lang="fa-IR" dirty="0"/>
              <a:t>چراغ راهنمایی</a:t>
            </a:r>
          </a:p>
          <a:p>
            <a:pPr marL="36900" indent="0" algn="r" rtl="1">
              <a:buNone/>
            </a:pPr>
            <a:endParaRPr lang="fa-IR" dirty="0"/>
          </a:p>
          <a:p>
            <a:pPr marL="36900" indent="0" algn="r" rtl="1">
              <a:buNone/>
            </a:pPr>
            <a:r>
              <a:rPr lang="fa-IR" dirty="0"/>
              <a:t>خروجی شبکه شامل </a:t>
            </a:r>
            <a:r>
              <a:rPr lang="en-US" dirty="0"/>
              <a:t>bounding box</a:t>
            </a:r>
            <a:r>
              <a:rPr lang="fa-IR" dirty="0"/>
              <a:t> و کلاس و </a:t>
            </a:r>
            <a:r>
              <a:rPr lang="en-US" dirty="0"/>
              <a:t>confidence score</a:t>
            </a:r>
            <a:r>
              <a:rPr lang="fa-IR" dirty="0"/>
              <a:t> هست که مستقیما وارد لایه تصمیم گیری میشه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06106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7398F-D3BE-34B9-1B23-1FDDE77A3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10AC6-FB21-BEF9-8FBB-3586AF6B15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Supervised Learning</a:t>
            </a:r>
          </a:p>
          <a:p>
            <a:r>
              <a:rPr lang="en-US" dirty="0"/>
              <a:t>Combined Dataset</a:t>
            </a:r>
          </a:p>
          <a:p>
            <a:r>
              <a:rPr lang="en-US" dirty="0"/>
              <a:t>Fine-tuning</a:t>
            </a:r>
          </a:p>
        </p:txBody>
      </p:sp>
    </p:spTree>
    <p:extLst>
      <p:ext uri="{BB962C8B-B14F-4D97-AF65-F5344CB8AC3E}">
        <p14:creationId xmlns:p14="http://schemas.microsoft.com/office/powerpoint/2010/main" val="41674244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3BB20-58FF-F1BB-446A-19B702F5B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Augmentation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47AE24-F383-8495-F84A-23A640BC91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en-US" dirty="0"/>
              <a:t>Geometric</a:t>
            </a:r>
            <a:r>
              <a:rPr lang="fa-IR" dirty="0"/>
              <a:t>: چرخش و تغییر مقیاس</a:t>
            </a:r>
            <a:endParaRPr lang="en-US" dirty="0"/>
          </a:p>
          <a:p>
            <a:pPr algn="r" rtl="1"/>
            <a:r>
              <a:rPr lang="en-US" dirty="0"/>
              <a:t>Photometric</a:t>
            </a:r>
            <a:r>
              <a:rPr lang="fa-IR" dirty="0"/>
              <a:t>: تغییر روشنایی و کنتراست</a:t>
            </a:r>
            <a:endParaRPr lang="en-US" dirty="0"/>
          </a:p>
          <a:p>
            <a:pPr algn="r" rtl="1"/>
            <a:r>
              <a:rPr lang="en-US" dirty="0"/>
              <a:t>Noise-based</a:t>
            </a:r>
            <a:r>
              <a:rPr lang="fa-IR" dirty="0"/>
              <a:t>: افزودن نویز</a:t>
            </a:r>
            <a:endParaRPr lang="en-US" dirty="0"/>
          </a:p>
          <a:p>
            <a:pPr algn="r" rtl="1"/>
            <a:r>
              <a:rPr lang="en-US" dirty="0"/>
              <a:t>Occlusion</a:t>
            </a:r>
            <a:r>
              <a:rPr lang="fa-IR" dirty="0"/>
              <a:t>: پوشاندن بخشی از تصویر</a:t>
            </a:r>
            <a:endParaRPr lang="en-US" dirty="0"/>
          </a:p>
          <a:p>
            <a:pPr algn="r" rtl="1"/>
            <a:r>
              <a:rPr lang="en-US" dirty="0"/>
              <a:t>Mosaic / Mix up</a:t>
            </a:r>
            <a:r>
              <a:rPr lang="fa-IR" dirty="0"/>
              <a:t>: ترکیب چند تصویر برای تشخیص اشیا کوچک</a:t>
            </a:r>
            <a:endParaRPr lang="en-US" dirty="0"/>
          </a:p>
          <a:p>
            <a:pPr algn="r" rtl="1"/>
            <a:r>
              <a:rPr lang="en-US" dirty="0"/>
              <a:t>Domain Randomization</a:t>
            </a:r>
            <a:r>
              <a:rPr lang="fa-IR" dirty="0"/>
              <a:t>: تغییر پس زمینه و رنگ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97124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D3555-A741-36EA-2EC9-EE9A137CE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سیستم دوربین تطبیق پذیر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D16A4-1370-EEBE-3681-CAD49BE9F2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fa-IR" dirty="0"/>
              <a:t>دوربین متحرک</a:t>
            </a:r>
          </a:p>
          <a:p>
            <a:pPr algn="r" rtl="1"/>
            <a:r>
              <a:rPr lang="fa-IR" dirty="0"/>
              <a:t>بررسی فعال محیط در تقاطع ها</a:t>
            </a:r>
          </a:p>
          <a:p>
            <a:pPr marL="36900" indent="0" algn="r" rtl="1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99894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DEF3A-4702-C822-06CD-61F36DE74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LiDar</a:t>
            </a:r>
            <a:r>
              <a:rPr lang="en-US" dirty="0"/>
              <a:t> &amp; Sensor Fusion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F50034-517A-712E-FE31-200A96FB8F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fa-IR" dirty="0"/>
              <a:t>تخمین فاصله</a:t>
            </a:r>
          </a:p>
          <a:p>
            <a:pPr algn="r" rtl="1"/>
            <a:r>
              <a:rPr lang="en-US" dirty="0"/>
              <a:t>Late fusion</a:t>
            </a:r>
          </a:p>
          <a:p>
            <a:pPr algn="r" rtl="1"/>
            <a:r>
              <a:rPr lang="fa-IR" dirty="0"/>
              <a:t>افزایش </a:t>
            </a:r>
            <a:r>
              <a:rPr lang="en-US" dirty="0"/>
              <a:t>robustness</a:t>
            </a:r>
          </a:p>
          <a:p>
            <a:pPr marL="36900" indent="0" algn="r" rtl="1">
              <a:buNone/>
            </a:pPr>
            <a:endParaRPr lang="en-US" dirty="0"/>
          </a:p>
          <a:p>
            <a:pPr marL="36900" indent="0" algn="r" rtl="1">
              <a:buNone/>
            </a:pPr>
            <a:r>
              <a:rPr lang="en-US" dirty="0"/>
              <a:t>Robustness</a:t>
            </a:r>
            <a:r>
              <a:rPr lang="fa-IR" dirty="0"/>
              <a:t> یعنی پایداری عملکرد سیستم در شرایط غیر ایده آل با ترکیب بینایی ماشین و</a:t>
            </a:r>
            <a:r>
              <a:rPr lang="en-US" dirty="0" err="1"/>
              <a:t>LiDar</a:t>
            </a:r>
            <a:r>
              <a:rPr lang="fa-IR" dirty="0"/>
              <a:t> اگر یکی از حسگر ها دچار خطا یا نویز بشه حسگر دیگر آن را جبران می کند.</a:t>
            </a:r>
          </a:p>
          <a:p>
            <a:pPr marL="36900" indent="0" algn="r" rtl="1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03454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30AE2-5583-E49C-6B78-790DA313A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dirty="0"/>
              <a:t>میکروکنترلر </a:t>
            </a:r>
            <a:r>
              <a:rPr lang="en-US" dirty="0"/>
              <a:t>STM32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29F84-1739-3983-6223-2530B236B2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ARM Cortex-M</a:t>
            </a:r>
          </a:p>
          <a:p>
            <a:r>
              <a:rPr lang="en-US" dirty="0"/>
              <a:t>Real-time control</a:t>
            </a:r>
          </a:p>
          <a:p>
            <a:r>
              <a:rPr lang="fa-IR" dirty="0"/>
              <a:t>تایمر های دقیق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43884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46530-C3EC-AC10-B535-92F139107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dirty="0"/>
              <a:t>ارتباط </a:t>
            </a:r>
            <a:r>
              <a:rPr lang="en-US" dirty="0"/>
              <a:t>Ras</a:t>
            </a:r>
            <a:r>
              <a:rPr lang="fa-IR" dirty="0"/>
              <a:t> با </a:t>
            </a:r>
            <a:r>
              <a:rPr lang="en-US" dirty="0"/>
              <a:t>STM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9E3F6F-389F-3A9B-DD9B-2F863C1941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fa-IR" dirty="0"/>
              <a:t>پروتکل دو طرفه </a:t>
            </a:r>
            <a:r>
              <a:rPr lang="en-US" dirty="0"/>
              <a:t>UART</a:t>
            </a:r>
            <a:r>
              <a:rPr lang="fa-IR" dirty="0"/>
              <a:t> </a:t>
            </a:r>
          </a:p>
          <a:p>
            <a:pPr algn="r" rtl="1"/>
            <a:r>
              <a:rPr lang="en-US" dirty="0"/>
              <a:t>Checksum and timeout</a:t>
            </a:r>
          </a:p>
        </p:txBody>
      </p:sp>
    </p:spTree>
    <p:extLst>
      <p:ext uri="{BB962C8B-B14F-4D97-AF65-F5344CB8AC3E}">
        <p14:creationId xmlns:p14="http://schemas.microsoft.com/office/powerpoint/2010/main" val="15683003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93AFE-57B2-43D8-F0F1-E2D1BCAFF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سیستم فرمان آکرمن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F87B6D-B0BC-A2F0-875B-A52AC96A89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fa-IR" dirty="0"/>
              <a:t>کاهش لغزش </a:t>
            </a:r>
          </a:p>
          <a:p>
            <a:pPr algn="r" rtl="1"/>
            <a:r>
              <a:rPr lang="fa-IR" dirty="0"/>
              <a:t>حرکت طبیعی تر در پیچ ها</a:t>
            </a:r>
          </a:p>
          <a:p>
            <a:pPr algn="r" rtl="1"/>
            <a:r>
              <a:rPr lang="fa-IR" dirty="0"/>
              <a:t>زاویه حرکتی بیشتر</a:t>
            </a:r>
          </a:p>
          <a:p>
            <a:pPr marL="36900" indent="0" algn="r" rtl="1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73850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C2142-1DDF-973A-65FD-AEA14D56A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سیستم فرمان در جلو و عقب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998036-C366-698F-7272-504CCFDB96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fa-IR" dirty="0"/>
              <a:t>کاهش شعاع گردش</a:t>
            </a:r>
          </a:p>
          <a:p>
            <a:pPr algn="r" rtl="1"/>
            <a:r>
              <a:rPr lang="fa-IR" dirty="0"/>
              <a:t>بهبود پارک خودرو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07237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A7038-2BA1-0CAF-0817-5091A5A2E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dirty="0"/>
              <a:t>موتور های </a:t>
            </a:r>
            <a:r>
              <a:rPr lang="en-US" dirty="0"/>
              <a:t>Dynamixel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E2CED2-F152-D581-423E-75C6EE40DF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Position Control</a:t>
            </a:r>
          </a:p>
          <a:p>
            <a:r>
              <a:rPr lang="en-US" dirty="0"/>
              <a:t>Encoder </a:t>
            </a:r>
            <a:r>
              <a:rPr lang="fa-IR" dirty="0"/>
              <a:t>داخلی</a:t>
            </a:r>
          </a:p>
          <a:p>
            <a:r>
              <a:rPr lang="fa-IR" dirty="0"/>
              <a:t>دقت بالا</a:t>
            </a:r>
          </a:p>
          <a:p>
            <a:r>
              <a:rPr lang="en-US" dirty="0"/>
              <a:t>Internal Feedback</a:t>
            </a:r>
          </a:p>
          <a:p>
            <a:pPr marL="369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3965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63578-EEDF-C2E7-F0B4-EE2356EF0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کار های آینده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E15D9D-3B3A-0A4C-59B5-8DB5CDC284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900" indent="0" algn="ctr">
              <a:buNone/>
            </a:pPr>
            <a:r>
              <a:rPr lang="en-US" dirty="0"/>
              <a:t>Reinforcement Learning </a:t>
            </a:r>
          </a:p>
          <a:p>
            <a:r>
              <a:rPr lang="en-US" dirty="0"/>
              <a:t>Policy Learning</a:t>
            </a:r>
          </a:p>
          <a:p>
            <a:r>
              <a:rPr lang="fa-IR" dirty="0"/>
              <a:t>تصمیم گیری هوشمند</a:t>
            </a:r>
          </a:p>
          <a:p>
            <a:r>
              <a:rPr lang="en-US" dirty="0"/>
              <a:t>Simulation-based</a:t>
            </a:r>
          </a:p>
        </p:txBody>
      </p:sp>
    </p:spTree>
    <p:extLst>
      <p:ext uri="{BB962C8B-B14F-4D97-AF65-F5344CB8AC3E}">
        <p14:creationId xmlns:p14="http://schemas.microsoft.com/office/powerpoint/2010/main" val="28648166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B895A-7C93-E31A-0C12-6935444D0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چالش ها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958480-64F2-EF8B-644A-63CD934586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Latency</a:t>
            </a:r>
          </a:p>
          <a:p>
            <a:r>
              <a:rPr lang="fa-IR" dirty="0"/>
              <a:t>نویز</a:t>
            </a:r>
          </a:p>
          <a:p>
            <a:r>
              <a:rPr lang="fa-IR" dirty="0"/>
              <a:t>محدودید سخت افزار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613378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Arial Nova">
      <a:majorFont>
        <a:latin typeface="Arial Nova Light"/>
        <a:ea typeface=""/>
        <a:cs typeface=""/>
      </a:majorFont>
      <a:minorFont>
        <a:latin typeface="Arial Nova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VTI" id="{35C4A07C-0176-4A32-9BCB-B016516853F0}" vid="{9B70D35C-BCA8-4715-BB49-8BE54A7FC07C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7E70FC5-1855-47AB-8CE1-CB3C873A8988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30CB38EC-895A-4F8F-8F75-E263501ABB5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560E646-30AD-4BA0-97EA-A7A07DF5499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{8CB07FEA-D242-4D8A-9BF4-0C1451D0E020}TF44c8ba04-08d0-4be5-99b0-3ee2a8f0f11401c8fd43_win32-463ac1ec4738</Template>
  <TotalTime>47</TotalTime>
  <Words>339</Words>
  <Application>Microsoft Office PowerPoint</Application>
  <PresentationFormat>Widescreen</PresentationFormat>
  <Paragraphs>81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 Nova</vt:lpstr>
      <vt:lpstr>Arial Nova Light</vt:lpstr>
      <vt:lpstr>Wingdings</vt:lpstr>
      <vt:lpstr>Wingdings 2</vt:lpstr>
      <vt:lpstr>SlateVTI</vt:lpstr>
      <vt:lpstr>Autonomous Vehicles</vt:lpstr>
      <vt:lpstr>معماری کل سیستم</vt:lpstr>
      <vt:lpstr>سخت افزار پردازشی</vt:lpstr>
      <vt:lpstr>شبکه عصبی YOLOv10</vt:lpstr>
      <vt:lpstr>ساختار شبکه YOLOv10</vt:lpstr>
      <vt:lpstr>وظایف YOLOv10</vt:lpstr>
      <vt:lpstr>Training Strategy</vt:lpstr>
      <vt:lpstr>Data Augmentation</vt:lpstr>
      <vt:lpstr>سیستم دوربین تطبیق پذیر</vt:lpstr>
      <vt:lpstr>LiDar &amp; Sensor Fusion</vt:lpstr>
      <vt:lpstr>میکروکنترلر STM32</vt:lpstr>
      <vt:lpstr>ارتباط Ras با STM</vt:lpstr>
      <vt:lpstr>سیستم فرمان آکرمن</vt:lpstr>
      <vt:lpstr>سیستم فرمان در جلو و عقب</vt:lpstr>
      <vt:lpstr>موتور های Dynamixel</vt:lpstr>
      <vt:lpstr>کار های آینده</vt:lpstr>
      <vt:lpstr>چالش ها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 Vian</dc:creator>
  <cp:lastModifiedBy>Ali Vian</cp:lastModifiedBy>
  <cp:revision>2</cp:revision>
  <dcterms:created xsi:type="dcterms:W3CDTF">2025-12-24T09:31:24Z</dcterms:created>
  <dcterms:modified xsi:type="dcterms:W3CDTF">2025-12-24T10:19:14Z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